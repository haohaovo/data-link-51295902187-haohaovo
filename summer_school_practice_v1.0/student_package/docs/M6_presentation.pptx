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4786a78c684071" /><Relationship Type="http://schemas.openxmlformats.org/officeDocument/2006/relationships/extended-properties" Target="/docProps/app.xml" Id="Rff651a8f1fe04a4d" /><Relationship Type="http://schemas.openxmlformats.org/officeDocument/2006/relationships/officeDocument" Target="/ppt/presentation.xml" Id="R805e95a9dc6e42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24abe496d4a38"/>
  </p:sldMasterIdLst>
  <p:notesMasterIdLst>
    <p:notesMasterId xmlns:r="http://schemas.openxmlformats.org/officeDocument/2006/relationships" r:id="R4fcf6c76d5fa4796"/>
  </p:notesMasterIdLst>
  <p:sldIdLst>
    <p:sldId xmlns:r="http://schemas.openxmlformats.org/officeDocument/2006/relationships" id="256" r:id="R2768a69f47d64147"/>
    <p:sldId xmlns:r="http://schemas.openxmlformats.org/officeDocument/2006/relationships" id="257" r:id="R279610fc44034325"/>
    <p:sldId xmlns:r="http://schemas.openxmlformats.org/officeDocument/2006/relationships" id="258" r:id="R0e99a589efdf42b7"/>
    <p:sldId xmlns:r="http://schemas.openxmlformats.org/officeDocument/2006/relationships" id="259" r:id="R91563aab2e6a4d07"/>
    <p:sldId xmlns:r="http://schemas.openxmlformats.org/officeDocument/2006/relationships" id="260" r:id="R494adbda83f546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6654834b24628" /><Relationship Type="http://schemas.openxmlformats.org/officeDocument/2006/relationships/slideMaster" Target="/ppt/slideMasters/slideMaster1.xml" Id="R2ea24abe496d4a38" /><Relationship Type="http://schemas.openxmlformats.org/officeDocument/2006/relationships/notesMaster" Target="/ppt/notesMasters/notesMaster1.xml" Id="R4fcf6c76d5fa4796" /><Relationship Type="http://schemas.openxmlformats.org/officeDocument/2006/relationships/presProps" Target="/ppt/presProps.xml" Id="R8e1f798f7a784de3" /><Relationship Type="http://schemas.openxmlformats.org/officeDocument/2006/relationships/tableStyles" Target="/ppt/tableStyles.xml" Id="R4299c959215b4d8c" /><Relationship Type="http://schemas.openxmlformats.org/officeDocument/2006/relationships/slide" Target="/ppt/slides/slide1.xml" Id="R2768a69f47d64147" /><Relationship Type="http://schemas.openxmlformats.org/officeDocument/2006/relationships/slide" Target="/ppt/slides/slide2.xml" Id="R279610fc44034325" /><Relationship Type="http://schemas.openxmlformats.org/officeDocument/2006/relationships/slide" Target="/ppt/slides/slide3.xml" Id="R0e99a589efdf42b7" /><Relationship Type="http://schemas.openxmlformats.org/officeDocument/2006/relationships/slide" Target="/ppt/slides/slide4.xml" Id="R91563aab2e6a4d07" /><Relationship Type="http://schemas.openxmlformats.org/officeDocument/2006/relationships/slide" Target="/ppt/slides/slide5.xml" Id="R494adbda83f5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983a111ee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fc766dab234ddb" /><Relationship Type="http://schemas.openxmlformats.org/officeDocument/2006/relationships/notesMaster" Target="/ppt/notesMasters/notesMaster1.xml" Id="R30d3da5d7fb1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42c52e87f4344" /><Relationship Type="http://schemas.openxmlformats.org/officeDocument/2006/relationships/notesMaster" Target="/ppt/notesMasters/notesMaster1.xml" Id="R40939814efcd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fb8c913ec487f" /><Relationship Type="http://schemas.openxmlformats.org/officeDocument/2006/relationships/notesMaster" Target="/ppt/notesMasters/notesMaster1.xml" Id="R51d4d081711c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9a92d2de84b03" /><Relationship Type="http://schemas.openxmlformats.org/officeDocument/2006/relationships/notesMaster" Target="/ppt/notesMasters/notesMaster1.xml" Id="R1c921374f9bb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2e117bdea6488e" /><Relationship Type="http://schemas.openxmlformats.org/officeDocument/2006/relationships/notesMaster" Target="/ppt/notesMasters/notesMaster1.xml" Id="R47d9a957ac51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student_package/templates/m6_presentation_outline.md</a:t>
            </a:r>
          </a:p>
          <a:p xmlns:a="http://schemas.openxmlformats.org/drawingml/2006/main">
            <a:r>
              <a:t>- student_package/schema/teaching_message_spec.md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student_package/schema/teaching_message_spec.md</a:t>
            </a:r>
          </a:p>
          <a:p xmlns:a="http://schemas.openxmlformats.org/drawingml/2006/main">
            <a:r>
              <a:t>- student_package/output/experiment_summary.json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student_package/output/validation_log.csv</a:t>
            </a:r>
          </a:p>
          <a:p xmlns:a="http://schemas.openxmlformats.org/drawingml/2006/main">
            <a:r>
              <a:t>- student_package/output/experiment_summary.json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student_package/output/track_table.csv</a:t>
            </a:r>
          </a:p>
          <a:p xmlns:a="http://schemas.openxmlformats.org/drawingml/2006/main">
            <a:r>
              <a:t>- student_package/output/current_situation.csv</a:t>
            </a:r>
          </a:p>
          <a:p xmlns:a="http://schemas.openxmlformats.org/drawingml/2006/main">
            <a:r>
              <a:t>- student_package/output/experiment_summary.json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student_package/output/verified_mapping_table.csv</a:t>
            </a:r>
          </a:p>
          <a:p xmlns:a="http://schemas.openxmlformats.org/drawingml/2006/main">
            <a:r>
              <a:t>- student_package/output/alert_log.csv</a:t>
            </a:r>
          </a:p>
          <a:p xmlns:a="http://schemas.openxmlformats.org/drawingml/2006/main">
            <a:r>
              <a:t>- student_package/output/quality_situation.csv</a:t>
            </a:r>
          </a:p>
          <a:p xmlns:a="http://schemas.openxmlformats.org/drawingml/2006/main">
            <a:r>
              <a:t>- student_package/output/experiment_summary.json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1c8bcf9d248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43a814eab4925" /><Relationship Type="http://schemas.openxmlformats.org/officeDocument/2006/relationships/slideLayout" Target="/ppt/slideLayouts/slideLayout1.xml" Id="R5a4169b8bb0c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169b8bb0c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56cb152a34f55" /><Relationship Type="http://schemas.openxmlformats.org/officeDocument/2006/relationships/notesSlide" Target="/ppt/notesSlides/notesSlide1.xml" Id="R03881fedb170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c41c2d5e94d86" /><Relationship Type="http://schemas.openxmlformats.org/officeDocument/2006/relationships/notesSlide" Target="/ppt/notesSlides/notesSlide2.xml" Id="R1d37b281eca2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0ed6da44946e7" /><Relationship Type="http://schemas.openxmlformats.org/officeDocument/2006/relationships/notesSlide" Target="/ppt/notesSlides/notesSlide3.xml" Id="R449c40ef00a6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02244afb143dc" /><Relationship Type="http://schemas.openxmlformats.org/officeDocument/2006/relationships/notesSlide" Target="/ppt/notesSlides/notesSlide4.xml" Id="R162716e8b290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2f2ea056945bb" /><Relationship Type="http://schemas.openxmlformats.org/officeDocument/2006/relationships/notesSlide" Target="/ppt/notesSlides/notesSlide5.xml" Id="R8cd6c857f78d42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99831D5-6BD9-4FB0-A5EF-95DB9DE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</a:defRPr>
            </a:pPr>
            <a:r>
              <a:rPr sz="1800" b="0">
                <a:solidFill>
                  <a:srgbClr val="5B6470"/>
                </a:solidFill>
              </a:rPr>
              <a:t>数据链软件暑期学校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B9CEB1-C9B1-4DD4-ABFE-A98E872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M2–M6 数据处理闭环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31C203-46A3-49AE-AC45-4E8B4AFE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0"/>
                </a:solidFill>
              </a:defRPr>
            </a:pPr>
            <a:r>
              <a:rPr sz="2250" b="0">
                <a:solidFill>
                  <a:srgbClr val="5B6470"/>
                </a:solidFill>
              </a:rPr>
              <a:t>从 OpenSky 状态到 41 字节教学帧、航迹、统一语义与质量告警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5F60-4774-4BD3-88C8-11E6AE0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819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333633-00AC-4330-A999-4383EDB2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55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  源数据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E4FC8-7E98-4C24-B393-711E57C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67250"/>
            <a:ext cx="1819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187537-D57F-4C80-99AA-417C686D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76800"/>
            <a:ext cx="155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02  协议封装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97BB9-71FF-4806-A213-93ABE04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67250"/>
            <a:ext cx="1819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A5504F-641D-4F00-AC50-6E7A8EF0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76800"/>
            <a:ext cx="155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03  接收校验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A0DA3-2077-49F5-A9D4-C19A0842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67250"/>
            <a:ext cx="1819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7F2D2A-17DB-4232-937F-014ED7BD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76800"/>
            <a:ext cx="155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04  航迹态势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5FB78-03DE-4F8C-8972-9328D9CE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1819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78755F-CEB3-4873-9F99-FB98C5C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155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05  语义映射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A4C7B-508B-4B6E-9259-3E358648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67250"/>
            <a:ext cx="1819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224D4B0-F327-4A19-9C0C-9735A93C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876800"/>
            <a:ext cx="155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06  质量告警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2E68032-08F2-47FD-840C-C436ABF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TeachingLink 为学校自定义教学协议；本实验不使用助教检查点。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717E438-4F37-4C09-B1A5-0EBB4FB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8306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EC66FDD-9810-4D25-A59A-CE2D537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发送端把 5 条源记录转成 4 个可传输帧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25329-8840-42CE-B32A-485BFF56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11DF42D-6C7C-473C-890B-D0427771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E25468C-2F09-4F65-A408-2B45554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解析规则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C9A6EC-6DF8-445F-BB3F-B2F62D30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21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必需：target_id、timestamp、on_ground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F6A8D4-25CB-45C4-B44C-557E272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21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时间优先 position_time，必要时回退 last_contact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2E8E21-B09B-492B-A295-0F84516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521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高度优先气压高度，空时回退几何高度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D942BD-105D-45DF-A468-E0D7832D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21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可选字段缺失保留为 None，并写入验证日志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95E28-2E9B-4C6F-A759-EF92A3F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600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AEF596-C895-4D8C-A388-C3A5A7FC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TeachingLink 固定帧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B22BCB6-67CD-4A7A-AE92-03B7B4B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3D8DFF"/>
                </a:solidFill>
              </a:defRPr>
            </a:pPr>
            <a:r>
              <a:rPr sz="4950" b="1">
                <a:solidFill>
                  <a:srgbClr val="3D8DFF"/>
                </a:solidFill>
              </a:rPr>
              <a:t>41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12F0B-D2D8-4F27-876A-2FCC6B5C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B97CBC1-A014-4531-8A34-8DF1326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9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0–14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5527020-4B72-4B4F-A3AF-9158300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99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头部、序号、时间、目标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053F0-D3AF-41DB-A144-6DCAAF4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56BAAD-8015-458C-9791-4E9C75A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15–22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CE08753-8959-4D3A-8260-1AC874B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0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呼号（ASCII/补0）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1BB9F-D103-49E9-AE40-AFD01AE1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33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239C8DF-68C5-4D2A-9A4E-C36C9A7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23–36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EF03BE1-E8B0-459F-A792-7F81BA7C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1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22位经纬度与定点运动量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D1682-1AF6-4FC1-9D83-F3ED3F44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FDAB357-1679-44DA-87F7-2C02EEFE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37–38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CF5B07A-B70E-4B3E-81ED-DD99D1A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10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状态位与有效位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E6402-2C99-497C-9EF0-F1E6F52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41035E8-761D-4F43-AC97-F700F19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</a:defRPr>
            </a:pPr>
            <a:r>
              <a:rPr sz="1350" b="1">
                <a:solidFill>
                  <a:srgbClr val="5B6470"/>
                </a:solidFill>
              </a:rPr>
              <a:t>39–40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8843F2C-F36C-46BF-98F3-F610A81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10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前39字节和模65536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8A5EE06-137A-415D-99A4-06B2F1E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483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24 项往返精度检查全部通过</a:t>
            </a:r>
          </a:p>
        </p:txBody>
      </p:sp>
    </p:spTree>
    <p:extLst>
      <p:ext uri="{BB962C8B-B14F-4D97-AF65-F5344CB8AC3E}">
        <p14:creationId xmlns:p14="http://schemas.microsoft.com/office/powerpoint/2010/main" val="1123430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F01D7ED-B959-4144-9D57-74F332EE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接收端用多层判据隔离错误帧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10C31-41B8-4EBE-88FB-AEEF4760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5FEAFB3-4B2D-43E5-8896-38DDA40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388F44-6935-40A5-AED4-8EEED15F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</a:defRPr>
            </a:pPr>
            <a:r>
              <a:rPr sz="1725" b="0">
                <a:solidFill>
                  <a:srgbClr val="5B6470"/>
                </a:solidFill>
              </a:rPr>
              <a:t>坏帧记录问题类型并继续处理；可选字段缺失不会自动使整帧无效。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48161-4322-46E3-9EC8-EE75F8B0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D792E0-39F5-4987-B776-FBF0B9E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检查层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BB7FB8-1BB3-469C-B08F-C12623C6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431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判据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D76ADF-19A7-408F-AF30-70E654C8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43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失败记录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C42A5-1424-40DA-B8B5-AC6622C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7F84ED-302D-4626-9D12-69B4990A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长度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1A5BDA-C244-43C4-AB1A-9594DF25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860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必须为41字节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8FAB60-363F-4434-B5F9-5EBAF5D9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LENGTH_ERROR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D39E7-2A3E-46AA-ADE1-1527EC83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67A437-00DA-4D10-99B8-3F9F08B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头字段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2AB931-61B2-4538-B585-FF9A1A7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1467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magic / version / type / message_length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90B217-33C9-4E14-81C2-ABE11E2E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14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头字段错误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D3A97-6DE4-483D-977B-4E1E1A59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D88D248-77EF-487B-9A2B-DA40C469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433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校验和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BF3C20-2134-44E4-A495-D528B93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433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接收端重算前39字节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F63BF2-065C-4B13-868D-84AFEEB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33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CHECKSUM_ERROR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7F290-9A6D-41FA-9F16-62FAF3FD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4C2ADC-1207-429C-82E5-4754196F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保留位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5967BDB-6C39-4732-AA08-C69C0DB1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7197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经纬度容器与两个标志字节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611D52E-08DF-4AD1-84B0-6202976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719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RESERVED_BITS_ERROR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77E81-B894-4A08-86B0-23739FB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C11AC6E-2566-4A5F-A6F5-C8838308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标志一致性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4A380E6-A483-46D5-AB6E-2804CD42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006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无效位对应占位字节必须为0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F1AF903-A1B3-4C0E-926A-A270C18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006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FLAG_VALUE_INCONSISTENCY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0BD6C-31F3-4742-989B-51B22DA2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45AB023-E14B-4710-BFA7-91590BC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生成帧 4 / 成功解码 4 / SQLite 入库 9</a:t>
            </a:r>
          </a:p>
        </p:txBody>
      </p:sp>
    </p:spTree>
    <p:extLst>
      <p:ext uri="{BB962C8B-B14F-4D97-AF65-F5344CB8AC3E}">
        <p14:creationId xmlns:p14="http://schemas.microsoft.com/office/powerpoint/2010/main" val="39657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E4106EB-355F-4C0B-9292-4A7C46C1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9 个连续帧形成 3 条可追踪目标态势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76702-27C9-4D51-B313-16C2D5B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4FC4D25-04C1-46B1-9BBB-FA84709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57BF50-0B47-4C01-9248-7E218EF5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</a:defRPr>
            </a:pPr>
            <a:r>
              <a:rPr sz="1725" b="0">
                <a:solidFill>
                  <a:srgbClr val="5B6470"/>
                </a:solidFill>
              </a:rPr>
              <a:t>航迹只使用可接受记录，按 target_id 分组、timestamp 升序排列；message_seq 仅保留发送顺序。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764BA-F15C-4543-A10D-A170C09A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313293-0B75-489D-84E7-F2B82B8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3D94DB-E79A-4976-B9A8-3A35297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完整帧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121820-F8BE-47B5-AAED-2803D5F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固定边界批量解码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A6F05-6CD9-4ADB-A204-A8D94098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14A7AE-38B8-4999-BCCE-1366ED39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8130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</a:defRPr>
            </a:pPr>
            <a:r>
              <a:rPr sz="54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4B10F07-2E98-40FD-90D8-A8F04E91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43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目标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D573A0-1271-413A-A0A5-39CB94A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148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每个目标3个时刻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D72A2-16F1-40B1-8E68-2698CAD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9CD33D7-3E91-4843-8F8A-548C8D7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4BC82DF-A84C-4817-B38B-E1BEBF0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航迹点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60F93C-A40E-49D2-A45D-7B4DBD8D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</a:defRPr>
            </a:pPr>
            <a:r>
              <a:rPr sz="1500" b="0">
                <a:solidFill>
                  <a:srgbClr val="5B6470"/>
                </a:solidFill>
              </a:rPr>
              <a:t>track_sequence_no从1连续编号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2C40DD-F60B-4E45-AF2F-795D01A7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最新态势：000001、780abc、780def；缺失可选位置仍保留目标最新记录。</a:t>
            </a:r>
          </a:p>
        </p:txBody>
      </p:sp>
    </p:spTree>
    <p:extLst>
      <p:ext uri="{BB962C8B-B14F-4D97-AF65-F5344CB8AC3E}">
        <p14:creationId xmlns:p14="http://schemas.microsoft.com/office/powerpoint/2010/main" val="1202527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04F4829-AC7C-41CE-B1A4-ED23048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人工核验与固定规则让结果可解释、可复跑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5D3B-3643-44CA-B1F6-A517995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444CEF5-6716-4759-B927-3C00F8CC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90F0D1-0098-4DF8-9AC0-BB14BFA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语义映射：修正候选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20E69A-2E72-4EA8-8D49-88FB1871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经纬度候选互换 → 恢复正确层次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053566-2CF4-4A04-8C97-897CA9B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高度补回 −1000 m 物理偏置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586ACE-E56E-47B6-9D60-E8EA43A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呼号先检查 validity_flags.bit6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C470D0-D173-48A3-AAE3-12FA98B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• 时间回退写入 time_source，不等于无效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E8EAB-1EA9-4ECB-ACB7-7F60B8FF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257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050396-203B-4D09-8F8E-C639AF4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6 条统一消息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21C4FE-B893-430A-BA85-64BB007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</a:defRPr>
            </a:pPr>
            <a:r>
              <a:rPr sz="1575" b="0">
                <a:solidFill>
                  <a:srgbClr val="5B6470"/>
                </a:solidFill>
              </a:rPr>
              <a:t>OpenSky 3 + TeachingLink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056BF3-D96F-447F-8118-2B3402CA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一致性保障：四类规则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21EF27-2C86-47A3-A8CC-D03AE2F4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161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D34A4A"/>
                </a:solidFill>
              </a:defRPr>
            </a:pPr>
            <a:r>
              <a:rPr sz="5250" b="1">
                <a:solidFill>
                  <a:srgbClr val="D34A4A"/>
                </a:solidFill>
              </a:rPr>
              <a:t>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154E9C-9AAF-43CC-AF90-AE07770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条告警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DBFBB0-C2CD-463F-9A44-5FB74A0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HIGH 1  ·  MEDIUM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38464-17B0-4EFC-B60B-ACF528C6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5CB0B74-2902-4962-8C0F-E20E19D2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位置缺失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24022-A741-4481-9D8C-362E7656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20A6AA2-278F-4CCD-B31F-E46E1117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数据延迟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EC1B6-7079-4ED1-B249-FA3CC704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B379F8B-000A-400F-AE9F-E07B97D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联合键重复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D2831-CFBB-4163-90AA-FBD48EDE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96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E232BAC-498A-4DC3-8788-C50DBD1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148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航向越界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8DB33F9-60E3-4151-BBB3-B9DE58DA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</a:defRPr>
            </a:pPr>
            <a:r>
              <a:rPr sz="1575" b="0">
                <a:solidFill>
                  <a:srgbClr val="5B6470"/>
                </a:solidFill>
              </a:rPr>
              <a:t>改进方向：增加失步重同步、持续流测试和真实协议适配层。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23478-DBA1-4ACD-A3F6-6ED45A9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C277D53-169E-4167-B74F-26C2EC9C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结论：M2–M5 已由统一入口从空目录完整重建，未使用检查点。</a:t>
            </a:r>
          </a:p>
        </p:txBody>
      </p:sp>
    </p:spTree>
    <p:extLst>
      <p:ext uri="{BB962C8B-B14F-4D97-AF65-F5344CB8AC3E}">
        <p14:creationId xmlns:p14="http://schemas.microsoft.com/office/powerpoint/2010/main" val="1406619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2026-08-26T05:13:18.4670000Z</dcterms:created>
  <dcterms:modified xsi:type="dcterms:W3CDTF">2026-08-26T05:13:18.4670000Z</dcterms:modified>
</coreProperties>
</file>